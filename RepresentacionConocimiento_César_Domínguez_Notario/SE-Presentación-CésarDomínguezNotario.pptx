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c5b3f9a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bc5b3f9ad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bc5b3f9a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bc5b3f9ad_2_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c5b3f9ad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bc5b3f9ad_2_1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bc5b3f9ad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bc5b3f9ad_2_1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bc5b3f9ad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bc5b3f9ad_2_16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bc5b3f9ad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bc5b3f9ad_2_1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c5b3f9ad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bc5b3f9ad_2_2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bc5b3f9ad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dbc5b3f9ad_2_2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bc5b3f9ad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bc5b3f9ad_2_29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22A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38B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7406837" y="685800"/>
            <a:ext cx="1508800" cy="1508760"/>
          </a:xfrm>
          <a:prstGeom prst="ellipse">
            <a:avLst/>
          </a:prstGeom>
          <a:solidFill>
            <a:srgbClr val="2653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024074" y="3771900"/>
            <a:ext cx="1920291" cy="1920240"/>
          </a:xfrm>
          <a:prstGeom prst="ellipse">
            <a:avLst/>
          </a:prstGeom>
          <a:solidFill>
            <a:srgbClr val="1947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6103783" y="4457700"/>
            <a:ext cx="1165891" cy="1165860"/>
          </a:xfrm>
          <a:prstGeom prst="ellipse">
            <a:avLst/>
          </a:prstGeom>
          <a:solidFill>
            <a:srgbClr val="1875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17236" y="1028700"/>
            <a:ext cx="5898037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Experto de</a:t>
            </a:r>
            <a:br>
              <a:rPr b="1" i="0" lang="e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Absentismo Escolar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651527" y="2228850"/>
            <a:ext cx="521221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D7E6FA"/>
                </a:solidFill>
                <a:latin typeface="Arial"/>
                <a:ea typeface="Arial"/>
                <a:cs typeface="Arial"/>
                <a:sym typeface="Arial"/>
              </a:rPr>
              <a:t>Apoyo a la decisión inicial en casos de absentismo escolar en adolescentes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651527" y="3806190"/>
            <a:ext cx="562370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César Domínguez Notario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D7E6FA"/>
                </a:solidFill>
                <a:latin typeface="Arial"/>
                <a:ea typeface="Arial"/>
                <a:cs typeface="Arial"/>
                <a:sym typeface="Arial"/>
              </a:rPr>
              <a:t>Curso de Especialización en Inteligencia Artificial y Big Data · Modelos de IA</a:t>
            </a:r>
            <a:endParaRPr sz="1100"/>
          </a:p>
        </p:txBody>
      </p:sp>
      <p:sp>
        <p:nvSpPr>
          <p:cNvPr id="137" name="Google Shape;137;p25"/>
          <p:cNvSpPr/>
          <p:nvPr/>
        </p:nvSpPr>
        <p:spPr>
          <a:xfrm>
            <a:off x="651527" y="3003804"/>
            <a:ext cx="1097309" cy="246888"/>
          </a:xfrm>
          <a:prstGeom prst="roundRect">
            <a:avLst>
              <a:gd fmla="val 16667" name="adj"/>
            </a:avLst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CLIPS</a:t>
            </a:r>
            <a:endParaRPr sz="1100"/>
          </a:p>
        </p:txBody>
      </p:sp>
      <p:sp>
        <p:nvSpPr>
          <p:cNvPr id="138" name="Google Shape;138;p25"/>
          <p:cNvSpPr/>
          <p:nvPr/>
        </p:nvSpPr>
        <p:spPr>
          <a:xfrm>
            <a:off x="1866973" y="3003804"/>
            <a:ext cx="1097400" cy="246900"/>
          </a:xfrm>
          <a:prstGeom prst="roundRect">
            <a:avLst>
              <a:gd fmla="val 16667" name="adj"/>
            </a:avLst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 sz="1100"/>
          </a:p>
        </p:txBody>
      </p:sp>
      <p:sp>
        <p:nvSpPr>
          <p:cNvPr id="139" name="Google Shape;139;p25"/>
          <p:cNvSpPr/>
          <p:nvPr/>
        </p:nvSpPr>
        <p:spPr>
          <a:xfrm>
            <a:off x="3082521" y="3003804"/>
            <a:ext cx="1097400" cy="246900"/>
          </a:xfrm>
          <a:prstGeom prst="roundRect">
            <a:avLst>
              <a:gd fmla="val 16667" name="adj"/>
            </a:avLst>
          </a:prstGeom>
          <a:solidFill>
            <a:srgbClr val="3EA6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Explicable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1. Introducción al problema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El absentismo escolar requiere decisiones iniciales rápidas, coherentes y justificables.</a:t>
            </a:r>
            <a:endParaRPr sz="1100"/>
          </a:p>
        </p:txBody>
      </p:sp>
      <p:sp>
        <p:nvSpPr>
          <p:cNvPr id="148" name="Google Shape;148;p26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514364" y="1062990"/>
            <a:ext cx="2606109" cy="8915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514364" y="1062990"/>
            <a:ext cx="54865" cy="89154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685818" y="1165860"/>
            <a:ext cx="22974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Problema socioeducativo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La valoración inicial depende de faltas, frecuencia, reincidencia, contexto familiar, vulnerabilidad y actuación previa del centro.</a:t>
            </a:r>
            <a:endParaRPr sz="1100"/>
          </a:p>
        </p:txBody>
      </p:sp>
      <p:sp>
        <p:nvSpPr>
          <p:cNvPr id="154" name="Google Shape;154;p26"/>
          <p:cNvSpPr/>
          <p:nvPr/>
        </p:nvSpPr>
        <p:spPr>
          <a:xfrm>
            <a:off x="3257637" y="1062990"/>
            <a:ext cx="2606109" cy="8915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3257637" y="1062990"/>
            <a:ext cx="54865" cy="891540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3408650" y="1179550"/>
            <a:ext cx="241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Riesgo de inconsistencia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Sin una guía formal, casos similares pueden recibir respuestas distintas según la información disponible o el criterio aplicado.</a:t>
            </a:r>
            <a:endParaRPr sz="1100"/>
          </a:p>
        </p:txBody>
      </p:sp>
      <p:sp>
        <p:nvSpPr>
          <p:cNvPr id="157" name="Google Shape;157;p26"/>
          <p:cNvSpPr/>
          <p:nvPr/>
        </p:nvSpPr>
        <p:spPr>
          <a:xfrm>
            <a:off x="6000910" y="1062990"/>
            <a:ext cx="2606109" cy="8915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000910" y="1062990"/>
            <a:ext cx="54865" cy="89154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172365" y="1165860"/>
            <a:ext cx="22974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Necesidad del sistema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Una herramienta explicable permite homogeneizar la primera recomendación sin sustituir al profesional.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651527" y="2297430"/>
            <a:ext cx="781832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Dominio acotado: valoración inicial, no diagnóstico ni sanción.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Entradas observables: intensidad, SISO, colaboración, antecedentes, desprotección y estado de información.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Salida orientativa: seguimiento, intervención, derivación, revisión manual o ampliación de información.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2. Objetivos del sistema</a:t>
            </a:r>
            <a:endParaRPr sz="1100"/>
          </a:p>
        </p:txBody>
      </p:sp>
      <p:sp>
        <p:nvSpPr>
          <p:cNvPr id="168" name="Google Shape;168;p27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Convertir conocimiento experto en recomendaciones iniciales trazables.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617236" y="1131570"/>
            <a:ext cx="1886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17236" y="1131570"/>
            <a:ext cx="54865" cy="137160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788691" y="1234439"/>
            <a:ext cx="157738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Clasificar riesgo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Determinar el nivel inicial del caso: bajo, preventivo, medio, alto o no valorable.</a:t>
            </a:r>
            <a:endParaRPr sz="1100"/>
          </a:p>
        </p:txBody>
      </p:sp>
      <p:sp>
        <p:nvSpPr>
          <p:cNvPr id="175" name="Google Shape;175;p27"/>
          <p:cNvSpPr/>
          <p:nvPr/>
        </p:nvSpPr>
        <p:spPr>
          <a:xfrm>
            <a:off x="2708981" y="1131570"/>
            <a:ext cx="1886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2708981" y="1131570"/>
            <a:ext cx="54865" cy="137160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2880436" y="1234439"/>
            <a:ext cx="157738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Recomendar actuación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Proponer seguimiento, Equipo de Familia, ETI, derivación o revisión manual.</a:t>
            </a:r>
            <a:endParaRPr sz="1100"/>
          </a:p>
        </p:txBody>
      </p:sp>
      <p:sp>
        <p:nvSpPr>
          <p:cNvPr id="178" name="Google Shape;178;p27"/>
          <p:cNvSpPr/>
          <p:nvPr/>
        </p:nvSpPr>
        <p:spPr>
          <a:xfrm>
            <a:off x="4800728" y="1131570"/>
            <a:ext cx="1886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4800728" y="1131570"/>
            <a:ext cx="54865" cy="1371600"/>
          </a:xfrm>
          <a:prstGeom prst="rect">
            <a:avLst/>
          </a:prstGeom>
          <a:solidFill>
            <a:srgbClr val="3EA6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972183" y="1234439"/>
            <a:ext cx="157738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Explicar decisión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Mostrar reglas activadas, factores relevantes y justificación comprensible.</a:t>
            </a:r>
            <a:endParaRPr sz="1100"/>
          </a:p>
        </p:txBody>
      </p:sp>
      <p:sp>
        <p:nvSpPr>
          <p:cNvPr id="181" name="Google Shape;181;p27"/>
          <p:cNvSpPr/>
          <p:nvPr/>
        </p:nvSpPr>
        <p:spPr>
          <a:xfrm>
            <a:off x="6892473" y="1131570"/>
            <a:ext cx="1886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6892473" y="1131570"/>
            <a:ext cx="54865" cy="1371600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7063928" y="1234439"/>
            <a:ext cx="157738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Respetar límites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Forzar revisión manual ante situaciones complejas o información insuficiente.</a:t>
            </a:r>
            <a:endParaRPr sz="1100"/>
          </a:p>
        </p:txBody>
      </p:sp>
      <p:sp>
        <p:nvSpPr>
          <p:cNvPr id="184" name="Google Shape;184;p27"/>
          <p:cNvSpPr txBox="1"/>
          <p:nvPr/>
        </p:nvSpPr>
        <p:spPr>
          <a:xfrm>
            <a:off x="685818" y="2983229"/>
            <a:ext cx="768116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sistema actúa como apoyo a la decisión, no como sustituto del educador social.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La supervisión humana es obligatoria en la valoración final.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principio rector es la protección del menor y la coherencia del protocolo.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3. Metodología: adquisición de conocimiento</a:t>
            </a:r>
            <a:endParaRPr sz="1100"/>
          </a:p>
        </p:txBody>
      </p:sp>
      <p:sp>
        <p:nvSpPr>
          <p:cNvPr id="192" name="Google Shape;192;p28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Conocimiento extraído de entrevistas progresivas con una profesional socioeducativa.</a:t>
            </a:r>
            <a:endParaRPr sz="1100"/>
          </a:p>
        </p:txBody>
      </p:sp>
      <p:sp>
        <p:nvSpPr>
          <p:cNvPr id="193" name="Google Shape;193;p28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195" name="Google Shape;195;p28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196" name="Google Shape;196;p28"/>
          <p:cNvSpPr/>
          <p:nvPr/>
        </p:nvSpPr>
        <p:spPr>
          <a:xfrm>
            <a:off x="720109" y="1474470"/>
            <a:ext cx="377200" cy="377190"/>
          </a:xfrm>
          <a:prstGeom prst="ellipse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cxnSp>
        <p:nvCxnSpPr>
          <p:cNvPr id="197" name="Google Shape;197;p28"/>
          <p:cNvCxnSpPr/>
          <p:nvPr/>
        </p:nvCxnSpPr>
        <p:spPr>
          <a:xfrm>
            <a:off x="1097309" y="1663065"/>
            <a:ext cx="1474509" cy="0"/>
          </a:xfrm>
          <a:prstGeom prst="straightConnector1">
            <a:avLst/>
          </a:prstGeom>
          <a:noFill/>
          <a:ln cap="flat" cmpd="sng" w="25400">
            <a:solidFill>
              <a:srgbClr val="B4BE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28"/>
          <p:cNvSpPr/>
          <p:nvPr/>
        </p:nvSpPr>
        <p:spPr>
          <a:xfrm>
            <a:off x="548655" y="2057400"/>
            <a:ext cx="1851709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548655" y="2057400"/>
            <a:ext cx="54865" cy="99441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20109" y="216027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Entrevista 1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Lenguaje experto, indicadores y flujo inicial</a:t>
            </a:r>
            <a:endParaRPr sz="1100"/>
          </a:p>
        </p:txBody>
      </p:sp>
      <p:sp>
        <p:nvSpPr>
          <p:cNvPr id="201" name="Google Shape;201;p28"/>
          <p:cNvSpPr/>
          <p:nvPr/>
        </p:nvSpPr>
        <p:spPr>
          <a:xfrm>
            <a:off x="2777564" y="1474470"/>
            <a:ext cx="377200" cy="377190"/>
          </a:xfrm>
          <a:prstGeom prst="ellipse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cxnSp>
        <p:nvCxnSpPr>
          <p:cNvPr id="202" name="Google Shape;202;p28"/>
          <p:cNvCxnSpPr/>
          <p:nvPr/>
        </p:nvCxnSpPr>
        <p:spPr>
          <a:xfrm>
            <a:off x="3154764" y="1663065"/>
            <a:ext cx="1474509" cy="0"/>
          </a:xfrm>
          <a:prstGeom prst="straightConnector1">
            <a:avLst/>
          </a:prstGeom>
          <a:noFill/>
          <a:ln cap="flat" cmpd="sng" w="25400">
            <a:solidFill>
              <a:srgbClr val="B4BE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8"/>
          <p:cNvSpPr/>
          <p:nvPr/>
        </p:nvSpPr>
        <p:spPr>
          <a:xfrm>
            <a:off x="2606109" y="2057400"/>
            <a:ext cx="1851709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606109" y="2057400"/>
            <a:ext cx="54865" cy="99441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2777564" y="216027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Entrevista 2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Criterios de riesgo, agravantes y señales de alarma</a:t>
            </a:r>
            <a:endParaRPr sz="1100"/>
          </a:p>
        </p:txBody>
      </p:sp>
      <p:sp>
        <p:nvSpPr>
          <p:cNvPr id="206" name="Google Shape;206;p28"/>
          <p:cNvSpPr/>
          <p:nvPr/>
        </p:nvSpPr>
        <p:spPr>
          <a:xfrm>
            <a:off x="4835019" y="1474470"/>
            <a:ext cx="377200" cy="377190"/>
          </a:xfrm>
          <a:prstGeom prst="ellipse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cxnSp>
        <p:nvCxnSpPr>
          <p:cNvPr id="207" name="Google Shape;207;p28"/>
          <p:cNvCxnSpPr/>
          <p:nvPr/>
        </p:nvCxnSpPr>
        <p:spPr>
          <a:xfrm>
            <a:off x="5212219" y="1663065"/>
            <a:ext cx="1474509" cy="0"/>
          </a:xfrm>
          <a:prstGeom prst="straightConnector1">
            <a:avLst/>
          </a:prstGeom>
          <a:noFill/>
          <a:ln cap="flat" cmpd="sng" w="25400">
            <a:solidFill>
              <a:srgbClr val="B4BE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8" name="Google Shape;208;p28"/>
          <p:cNvSpPr/>
          <p:nvPr/>
        </p:nvSpPr>
        <p:spPr>
          <a:xfrm>
            <a:off x="4663564" y="2057400"/>
            <a:ext cx="1851709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4663564" y="2057400"/>
            <a:ext cx="54865" cy="99441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835019" y="216027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Entrevista 3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Validación con casos, excepciones y límites</a:t>
            </a:r>
            <a:endParaRPr sz="1100"/>
          </a:p>
        </p:txBody>
      </p:sp>
      <p:sp>
        <p:nvSpPr>
          <p:cNvPr id="211" name="Google Shape;211;p28"/>
          <p:cNvSpPr/>
          <p:nvPr/>
        </p:nvSpPr>
        <p:spPr>
          <a:xfrm>
            <a:off x="6892474" y="1474470"/>
            <a:ext cx="377200" cy="377190"/>
          </a:xfrm>
          <a:prstGeom prst="ellipse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12" name="Google Shape;212;p28"/>
          <p:cNvSpPr/>
          <p:nvPr/>
        </p:nvSpPr>
        <p:spPr>
          <a:xfrm>
            <a:off x="6721019" y="2057400"/>
            <a:ext cx="1851709" cy="9944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6721019" y="2057400"/>
            <a:ext cx="54865" cy="99441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6892474" y="216027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Conceptualización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Glosario, diccionario, mapa y reglas</a:t>
            </a:r>
            <a:endParaRPr sz="1100"/>
          </a:p>
        </p:txBody>
      </p:sp>
      <p:sp>
        <p:nvSpPr>
          <p:cNvPr id="215" name="Google Shape;215;p28"/>
          <p:cNvSpPr txBox="1"/>
          <p:nvPr/>
        </p:nvSpPr>
        <p:spPr>
          <a:xfrm>
            <a:off x="651527" y="3669030"/>
            <a:ext cx="788691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La fuente experta fue María José Notario Asensio, del ámbito socioeducativo municipal.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Se identificaron conceptos, relaciones, reglas de decisión y casos que quedan fuera del sistema.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conocimiento se formalizó en reglas de producción implementables en CLIPS.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4. Tecnologías utilizadas</a:t>
            </a:r>
            <a:endParaRPr sz="1100"/>
          </a:p>
        </p:txBody>
      </p:sp>
      <p:sp>
        <p:nvSpPr>
          <p:cNvPr id="223" name="Google Shape;223;p29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Stack sencillo, explicable y adecuado para un sistema basado en reglas.</a:t>
            </a:r>
            <a:endParaRPr sz="1100"/>
          </a:p>
        </p:txBody>
      </p:sp>
      <p:sp>
        <p:nvSpPr>
          <p:cNvPr id="224" name="Google Shape;224;p29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226" name="Google Shape;226;p29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227" name="Google Shape;227;p29"/>
          <p:cNvSpPr/>
          <p:nvPr/>
        </p:nvSpPr>
        <p:spPr>
          <a:xfrm>
            <a:off x="685818" y="1062990"/>
            <a:ext cx="3669128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85818" y="1062990"/>
            <a:ext cx="54865" cy="106299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857273" y="1165860"/>
            <a:ext cx="3360509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Lenguaje principal para integrar lógica, motor de inferencia e interfaz.</a:t>
            </a:r>
            <a:endParaRPr sz="1100"/>
          </a:p>
        </p:txBody>
      </p:sp>
      <p:sp>
        <p:nvSpPr>
          <p:cNvPr id="230" name="Google Shape;230;p29"/>
          <p:cNvSpPr/>
          <p:nvPr/>
        </p:nvSpPr>
        <p:spPr>
          <a:xfrm>
            <a:off x="4766437" y="1062990"/>
            <a:ext cx="3669128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4766437" y="1062990"/>
            <a:ext cx="54865" cy="106299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4937892" y="1165860"/>
            <a:ext cx="3360509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CLIPS / clipspy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Motor de inferencia basado en reglas de producción y hechos.</a:t>
            </a:r>
            <a:endParaRPr sz="1100"/>
          </a:p>
        </p:txBody>
      </p:sp>
      <p:sp>
        <p:nvSpPr>
          <p:cNvPr id="233" name="Google Shape;233;p29"/>
          <p:cNvSpPr txBox="1"/>
          <p:nvPr/>
        </p:nvSpPr>
        <p:spPr>
          <a:xfrm>
            <a:off x="720106" y="2595750"/>
            <a:ext cx="7681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sistema separa la base de conocimiento de la interfaz web.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La aplicación presenta métricas, explicación textual y factores activados.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enfoque favorece transparencia frente a modelos opacos. Una rareza útil, casi sospechosa.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5. Arquitectura del sistema</a:t>
            </a:r>
            <a:endParaRPr sz="1100"/>
          </a:p>
        </p:txBody>
      </p:sp>
      <p:sp>
        <p:nvSpPr>
          <p:cNvPr id="241" name="Google Shape;241;p30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Flujo desde la entrada del caso hasta la recomendación explicable.</a:t>
            </a:r>
            <a:endParaRPr sz="1100"/>
          </a:p>
        </p:txBody>
      </p:sp>
      <p:sp>
        <p:nvSpPr>
          <p:cNvPr id="242" name="Google Shape;242;p30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244" name="Google Shape;244;p30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245" name="Google Shape;245;p30"/>
          <p:cNvSpPr/>
          <p:nvPr/>
        </p:nvSpPr>
        <p:spPr>
          <a:xfrm>
            <a:off x="617236" y="1440180"/>
            <a:ext cx="1680255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617236" y="1440180"/>
            <a:ext cx="54865" cy="68580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788701" y="1543050"/>
            <a:ext cx="15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Usuario / profesional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Introduce indicadores del caso</a:t>
            </a:r>
            <a:endParaRPr sz="1100"/>
          </a:p>
        </p:txBody>
      </p:sp>
      <p:sp>
        <p:nvSpPr>
          <p:cNvPr id="248" name="Google Shape;248;p30"/>
          <p:cNvSpPr/>
          <p:nvPr/>
        </p:nvSpPr>
        <p:spPr>
          <a:xfrm>
            <a:off x="2640400" y="1440180"/>
            <a:ext cx="1851709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2640400" y="1440180"/>
            <a:ext cx="54865" cy="68580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2811854" y="1543050"/>
            <a:ext cx="154309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Interfaz Streamlit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Formulario, validación visual y presentación de resultados</a:t>
            </a:r>
            <a:endParaRPr sz="1100"/>
          </a:p>
        </p:txBody>
      </p:sp>
      <p:sp>
        <p:nvSpPr>
          <p:cNvPr id="251" name="Google Shape;251;p30"/>
          <p:cNvSpPr/>
          <p:nvPr/>
        </p:nvSpPr>
        <p:spPr>
          <a:xfrm>
            <a:off x="4869310" y="1440180"/>
            <a:ext cx="1645964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4869310" y="1440180"/>
            <a:ext cx="54865" cy="685800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5040764" y="1543050"/>
            <a:ext cx="13373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Motor CLIPS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Evalúa hechos contra reglas de producción</a:t>
            </a:r>
            <a:endParaRPr sz="1100"/>
          </a:p>
        </p:txBody>
      </p:sp>
      <p:sp>
        <p:nvSpPr>
          <p:cNvPr id="254" name="Google Shape;254;p30"/>
          <p:cNvSpPr/>
          <p:nvPr/>
        </p:nvSpPr>
        <p:spPr>
          <a:xfrm>
            <a:off x="6858174" y="1440175"/>
            <a:ext cx="18816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6858183" y="1440180"/>
            <a:ext cx="54865" cy="685800"/>
          </a:xfrm>
          <a:prstGeom prst="rect">
            <a:avLst/>
          </a:prstGeom>
          <a:solidFill>
            <a:srgbClr val="3EA6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6995350" y="1523175"/>
            <a:ext cx="168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Salida explicable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Nivel de riesgo, recomendación y factores activados</a:t>
            </a:r>
            <a:endParaRPr sz="1100"/>
          </a:p>
        </p:txBody>
      </p:sp>
      <p:cxnSp>
        <p:nvCxnSpPr>
          <p:cNvPr id="257" name="Google Shape;257;p30"/>
          <p:cNvCxnSpPr/>
          <p:nvPr/>
        </p:nvCxnSpPr>
        <p:spPr>
          <a:xfrm>
            <a:off x="2297491" y="1783080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5F69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8" name="Google Shape;258;p30"/>
          <p:cNvCxnSpPr/>
          <p:nvPr/>
        </p:nvCxnSpPr>
        <p:spPr>
          <a:xfrm>
            <a:off x="4492110" y="1783080"/>
            <a:ext cx="377200" cy="0"/>
          </a:xfrm>
          <a:prstGeom prst="straightConnector1">
            <a:avLst/>
          </a:prstGeom>
          <a:noFill/>
          <a:ln cap="flat" cmpd="sng" w="25400">
            <a:solidFill>
              <a:srgbClr val="5F69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9" name="Google Shape;259;p30"/>
          <p:cNvCxnSpPr/>
          <p:nvPr/>
        </p:nvCxnSpPr>
        <p:spPr>
          <a:xfrm>
            <a:off x="6515274" y="1783080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5F69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0" name="Google Shape;260;p30"/>
          <p:cNvSpPr/>
          <p:nvPr/>
        </p:nvSpPr>
        <p:spPr>
          <a:xfrm>
            <a:off x="925855" y="2914650"/>
            <a:ext cx="2126037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925855" y="2914650"/>
            <a:ext cx="54865" cy="92583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1097309" y="3017520"/>
            <a:ext cx="1817418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Base de conocimiento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10 reglas de producción derivadas de entrevistas y conceptualización.</a:t>
            </a:r>
            <a:endParaRPr sz="1100"/>
          </a:p>
        </p:txBody>
      </p:sp>
      <p:sp>
        <p:nvSpPr>
          <p:cNvPr id="263" name="Google Shape;263;p30"/>
          <p:cNvSpPr/>
          <p:nvPr/>
        </p:nvSpPr>
        <p:spPr>
          <a:xfrm>
            <a:off x="3531964" y="2914650"/>
            <a:ext cx="2126037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531964" y="2914650"/>
            <a:ext cx="54865" cy="92583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3703419" y="3017520"/>
            <a:ext cx="1817418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Hechos del caso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Intervención previa, intensidad, SISO, colaboración, antecedentes, desprotección y estado de información.</a:t>
            </a:r>
            <a:endParaRPr sz="1100"/>
          </a:p>
        </p:txBody>
      </p:sp>
      <p:sp>
        <p:nvSpPr>
          <p:cNvPr id="266" name="Google Shape;266;p30"/>
          <p:cNvSpPr/>
          <p:nvPr/>
        </p:nvSpPr>
        <p:spPr>
          <a:xfrm>
            <a:off x="6138073" y="2914650"/>
            <a:ext cx="2126037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6138073" y="2914650"/>
            <a:ext cx="54865" cy="925830"/>
          </a:xfrm>
          <a:prstGeom prst="rect">
            <a:avLst/>
          </a:prstGeom>
          <a:solidFill>
            <a:srgbClr val="D2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6309528" y="3017520"/>
            <a:ext cx="1817418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Control humano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La decisión final permanece en manos del profesional.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6. Reglas implementadas: resumen</a:t>
            </a:r>
            <a:endParaRPr sz="1100"/>
          </a:p>
        </p:txBody>
      </p:sp>
      <p:sp>
        <p:nvSpPr>
          <p:cNvPr id="276" name="Google Shape;276;p31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La lógica prioriza seguridad, información suficiente y protección del menor.</a:t>
            </a:r>
            <a:endParaRPr sz="1100"/>
          </a:p>
        </p:txBody>
      </p:sp>
      <p:sp>
        <p:nvSpPr>
          <p:cNvPr id="277" name="Google Shape;277;p31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279" name="Google Shape;279;p31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  <p:sp>
        <p:nvSpPr>
          <p:cNvPr id="280" name="Google Shape;280;p31"/>
          <p:cNvSpPr/>
          <p:nvPr/>
        </p:nvSpPr>
        <p:spPr>
          <a:xfrm>
            <a:off x="582946" y="925830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582946" y="925830"/>
            <a:ext cx="54865" cy="822960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 txBox="1"/>
          <p:nvPr/>
        </p:nvSpPr>
        <p:spPr>
          <a:xfrm>
            <a:off x="754400" y="1028700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Validación previa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Sin intervención del centro, información incompleta o contradictoria → ampliar información.</a:t>
            </a:r>
            <a:endParaRPr sz="1100"/>
          </a:p>
        </p:txBody>
      </p:sp>
      <p:sp>
        <p:nvSpPr>
          <p:cNvPr id="283" name="Google Shape;283;p31"/>
          <p:cNvSpPr/>
          <p:nvPr/>
        </p:nvSpPr>
        <p:spPr>
          <a:xfrm>
            <a:off x="4766436" y="925830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4766436" y="925830"/>
            <a:ext cx="54865" cy="822960"/>
          </a:xfrm>
          <a:prstGeom prst="rect">
            <a:avLst/>
          </a:prstGeom>
          <a:solidFill>
            <a:srgbClr val="D2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4937891" y="1028700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Exclusión automática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Salud mental grave, psicopatología o consumo → revisión manual especializada.</a:t>
            </a:r>
            <a:endParaRPr sz="1100"/>
          </a:p>
        </p:txBody>
      </p:sp>
      <p:sp>
        <p:nvSpPr>
          <p:cNvPr id="286" name="Google Shape;286;p31"/>
          <p:cNvSpPr/>
          <p:nvPr/>
        </p:nvSpPr>
        <p:spPr>
          <a:xfrm>
            <a:off x="582946" y="2105406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582946" y="2105406"/>
            <a:ext cx="54865" cy="822960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754400" y="2208276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Máxima prioridad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Indicadores de desprotección → riesgo alto e intervención ETI urgente.</a:t>
            </a:r>
            <a:endParaRPr sz="1100"/>
          </a:p>
        </p:txBody>
      </p:sp>
      <p:sp>
        <p:nvSpPr>
          <p:cNvPr id="289" name="Google Shape;289;p31"/>
          <p:cNvSpPr/>
          <p:nvPr/>
        </p:nvSpPr>
        <p:spPr>
          <a:xfrm>
            <a:off x="4766436" y="2105406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4766436" y="2105406"/>
            <a:ext cx="54865" cy="822960"/>
          </a:xfrm>
          <a:prstGeom prst="rect">
            <a:avLst/>
          </a:prstGeom>
          <a:solidFill>
            <a:srgbClr val="3EA6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4937891" y="2208276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Riesgo bajo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Faltas bajas, familia colaboradora y sin antecedentes → seguimiento.</a:t>
            </a:r>
            <a:endParaRPr sz="1100"/>
          </a:p>
        </p:txBody>
      </p:sp>
      <p:sp>
        <p:nvSpPr>
          <p:cNvPr id="292" name="Google Shape;292;p31"/>
          <p:cNvSpPr/>
          <p:nvPr/>
        </p:nvSpPr>
        <p:spPr>
          <a:xfrm>
            <a:off x="582946" y="3284982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582946" y="3284982"/>
            <a:ext cx="54865" cy="82296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754400" y="3387852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Prevención / ETI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SISO &gt; 58 con pocas faltas → intervención preventiva; con absentismo consolidado → ETI.</a:t>
            </a:r>
            <a:endParaRPr sz="1100"/>
          </a:p>
        </p:txBody>
      </p:sp>
      <p:sp>
        <p:nvSpPr>
          <p:cNvPr id="295" name="Google Shape;295;p31"/>
          <p:cNvSpPr/>
          <p:nvPr/>
        </p:nvSpPr>
        <p:spPr>
          <a:xfrm>
            <a:off x="4766436" y="3284982"/>
            <a:ext cx="387487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4766436" y="3284982"/>
            <a:ext cx="54865" cy="822960"/>
          </a:xfrm>
          <a:prstGeom prst="rect">
            <a:avLst/>
          </a:prstGeom>
          <a:solidFill>
            <a:srgbClr val="122A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4937891" y="3387852"/>
            <a:ext cx="3566255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Equipo de familia / derivación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SISO ≤ 58 y colaboración → Equipo de Familia; no cooperación → ETI y posible Fiscalía.</a:t>
            </a:r>
            <a:endParaRPr sz="1100"/>
          </a:p>
        </p:txBody>
      </p:sp>
      <p:sp>
        <p:nvSpPr>
          <p:cNvPr id="298" name="Google Shape;298;p31"/>
          <p:cNvSpPr/>
          <p:nvPr/>
        </p:nvSpPr>
        <p:spPr>
          <a:xfrm>
            <a:off x="7235383" y="4306824"/>
            <a:ext cx="1097309" cy="246888"/>
          </a:xfrm>
          <a:prstGeom prst="roundRect">
            <a:avLst>
              <a:gd fmla="val 16667" name="adj"/>
            </a:avLst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reglas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445782" y="240030"/>
            <a:ext cx="809265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7. Demostración y casos de uso</a:t>
            </a:r>
            <a:endParaRPr sz="1100"/>
          </a:p>
        </p:txBody>
      </p:sp>
      <p:sp>
        <p:nvSpPr>
          <p:cNvPr id="306" name="Google Shape;306;p32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Ejemplos representativos de entrada, inferencia y salida.</a:t>
            </a:r>
            <a:endParaRPr sz="1100"/>
          </a:p>
        </p:txBody>
      </p:sp>
      <p:sp>
        <p:nvSpPr>
          <p:cNvPr id="307" name="Google Shape;307;p32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309" name="Google Shape;309;p32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/>
          </a:p>
        </p:txBody>
      </p:sp>
      <p:sp>
        <p:nvSpPr>
          <p:cNvPr id="310" name="Google Shape;310;p32"/>
          <p:cNvSpPr/>
          <p:nvPr/>
        </p:nvSpPr>
        <p:spPr>
          <a:xfrm>
            <a:off x="582946" y="994410"/>
            <a:ext cx="3874873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582946" y="994410"/>
            <a:ext cx="54865" cy="1062990"/>
          </a:xfrm>
          <a:prstGeom prst="rect">
            <a:avLst/>
          </a:prstGeom>
          <a:solidFill>
            <a:srgbClr val="3EA6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754400" y="1097279"/>
            <a:ext cx="3566255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Caso A: seguimiento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Baja intensidad · familia colaboradora · sin antecedentes</a:t>
            </a:r>
            <a:b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Salida: Seguimiento ordinario</a:t>
            </a:r>
            <a:endParaRPr sz="1100"/>
          </a:p>
        </p:txBody>
      </p:sp>
      <p:sp>
        <p:nvSpPr>
          <p:cNvPr id="313" name="Google Shape;313;p32"/>
          <p:cNvSpPr/>
          <p:nvPr/>
        </p:nvSpPr>
        <p:spPr>
          <a:xfrm>
            <a:off x="4800728" y="994410"/>
            <a:ext cx="3874873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4800728" y="994410"/>
            <a:ext cx="54865" cy="1062990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4972183" y="1097279"/>
            <a:ext cx="3566255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Caso B: vulnerabilidad alta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Pocas faltas · SISO &gt; 58 · sin desprotección</a:t>
            </a:r>
            <a:b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Salida: Intervención ETI preventiva</a:t>
            </a:r>
            <a:endParaRPr sz="1100"/>
          </a:p>
        </p:txBody>
      </p:sp>
      <p:sp>
        <p:nvSpPr>
          <p:cNvPr id="316" name="Google Shape;316;p32"/>
          <p:cNvSpPr/>
          <p:nvPr/>
        </p:nvSpPr>
        <p:spPr>
          <a:xfrm>
            <a:off x="582946" y="2400300"/>
            <a:ext cx="3874873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582946" y="2400300"/>
            <a:ext cx="54865" cy="1062990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754400" y="2503170"/>
            <a:ext cx="3566255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Caso C: riesgo alto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Media/alta intensidad · baja cooperación familiar</a:t>
            </a:r>
            <a:b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Salida: ETI y valorar derivación</a:t>
            </a:r>
            <a:endParaRPr sz="1100"/>
          </a:p>
        </p:txBody>
      </p:sp>
      <p:sp>
        <p:nvSpPr>
          <p:cNvPr id="319" name="Google Shape;319;p32"/>
          <p:cNvSpPr/>
          <p:nvPr/>
        </p:nvSpPr>
        <p:spPr>
          <a:xfrm>
            <a:off x="4800728" y="2400300"/>
            <a:ext cx="3874873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4800728" y="2400300"/>
            <a:ext cx="54865" cy="1062990"/>
          </a:xfrm>
          <a:prstGeom prst="rect">
            <a:avLst/>
          </a:prstGeom>
          <a:solidFill>
            <a:srgbClr val="D2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4972183" y="2503170"/>
            <a:ext cx="3566255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Caso D: fuera de dominio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Datos contradictorios o situación personal compleja</a:t>
            </a:r>
            <a:b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Salida: Ampliar información o revisión manual</a:t>
            </a:r>
            <a:endParaRPr sz="1100"/>
          </a:p>
        </p:txBody>
      </p:sp>
      <p:sp>
        <p:nvSpPr>
          <p:cNvPr id="322" name="Google Shape;322;p32"/>
          <p:cNvSpPr txBox="1"/>
          <p:nvPr/>
        </p:nvSpPr>
        <p:spPr>
          <a:xfrm>
            <a:off x="685818" y="4046220"/>
            <a:ext cx="768116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La demo permite modificar variables y observar cómo cambian la recomendación y la explicación.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El sistema muestra factores activados para facilitar revisión profesional y trazabilidad.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0" y="0"/>
            <a:ext cx="9144015" cy="96012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45782" y="240030"/>
            <a:ext cx="809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22A4C"/>
                </a:solidFill>
              </a:rPr>
              <a:t>8</a:t>
            </a:r>
            <a:r>
              <a:rPr b="1" i="0" lang="es" sz="2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. Conclusiones y trabajo futuro</a:t>
            </a:r>
            <a:endParaRPr sz="1100"/>
          </a:p>
        </p:txBody>
      </p:sp>
      <p:sp>
        <p:nvSpPr>
          <p:cNvPr id="330" name="Google Shape;330;p33"/>
          <p:cNvSpPr txBox="1"/>
          <p:nvPr/>
        </p:nvSpPr>
        <p:spPr>
          <a:xfrm>
            <a:off x="459498" y="720090"/>
            <a:ext cx="7886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Un sistema experto útil debe ser claro, limitado y revisable.</a:t>
            </a:r>
            <a:endParaRPr sz="1100"/>
          </a:p>
        </p:txBody>
      </p:sp>
      <p:sp>
        <p:nvSpPr>
          <p:cNvPr id="331" name="Google Shape;331;p33"/>
          <p:cNvSpPr/>
          <p:nvPr/>
        </p:nvSpPr>
        <p:spPr>
          <a:xfrm>
            <a:off x="445782" y="4889754"/>
            <a:ext cx="8229819" cy="6858"/>
          </a:xfrm>
          <a:prstGeom prst="rect">
            <a:avLst/>
          </a:prstGeom>
          <a:solidFill>
            <a:srgbClr val="DCE2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445782" y="4917186"/>
            <a:ext cx="65152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Sistema Experto de Absentismo Escolar · César Domínguez Notario</a:t>
            </a:r>
            <a:endParaRPr sz="1100"/>
          </a:p>
        </p:txBody>
      </p:sp>
      <p:sp>
        <p:nvSpPr>
          <p:cNvPr id="333" name="Google Shape;333;p33"/>
          <p:cNvSpPr txBox="1"/>
          <p:nvPr/>
        </p:nvSpPr>
        <p:spPr>
          <a:xfrm>
            <a:off x="8332692" y="4917186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sp>
        <p:nvSpPr>
          <p:cNvPr id="334" name="Google Shape;334;p33"/>
          <p:cNvSpPr/>
          <p:nvPr/>
        </p:nvSpPr>
        <p:spPr>
          <a:xfrm>
            <a:off x="617236" y="925830"/>
            <a:ext cx="2537528" cy="140588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617236" y="925830"/>
            <a:ext cx="54865" cy="1405889"/>
          </a:xfrm>
          <a:prstGeom prst="rect">
            <a:avLst/>
          </a:prstGeom>
          <a:solidFill>
            <a:srgbClr val="2C66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788691" y="1028700"/>
            <a:ext cx="2228909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El proyecto demuestra que el absentismo escolar inicial puede modelarse mediante reglas explícitas, siempre bajo supervisión profesional.</a:t>
            </a:r>
            <a:endParaRPr sz="1100"/>
          </a:p>
        </p:txBody>
      </p:sp>
      <p:sp>
        <p:nvSpPr>
          <p:cNvPr id="337" name="Google Shape;337;p33"/>
          <p:cNvSpPr/>
          <p:nvPr/>
        </p:nvSpPr>
        <p:spPr>
          <a:xfrm>
            <a:off x="3326219" y="925830"/>
            <a:ext cx="2537528" cy="140588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3326219" y="925830"/>
            <a:ext cx="54865" cy="1405889"/>
          </a:xfrm>
          <a:prstGeom prst="rect">
            <a:avLst/>
          </a:prstGeom>
          <a:solidFill>
            <a:srgbClr val="1F94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 txBox="1"/>
          <p:nvPr/>
        </p:nvSpPr>
        <p:spPr>
          <a:xfrm>
            <a:off x="3497673" y="1028700"/>
            <a:ext cx="2228909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Aportación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Mejora la homogeneidad, rapidez y trazabilidad de la valoración inicial, incorporando explicación de la recomendación.</a:t>
            </a:r>
            <a:endParaRPr sz="1100"/>
          </a:p>
        </p:txBody>
      </p:sp>
      <p:sp>
        <p:nvSpPr>
          <p:cNvPr id="340" name="Google Shape;340;p33"/>
          <p:cNvSpPr/>
          <p:nvPr/>
        </p:nvSpPr>
        <p:spPr>
          <a:xfrm>
            <a:off x="6035201" y="925830"/>
            <a:ext cx="2537528" cy="140588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6035201" y="925830"/>
            <a:ext cx="54865" cy="1405889"/>
          </a:xfrm>
          <a:prstGeom prst="rect">
            <a:avLst/>
          </a:prstGeom>
          <a:solidFill>
            <a:srgbClr val="ED8B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6206655" y="1028700"/>
            <a:ext cx="2228909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22A4C"/>
                </a:solidFill>
                <a:latin typeface="Arial"/>
                <a:ea typeface="Arial"/>
                <a:cs typeface="Arial"/>
                <a:sym typeface="Arial"/>
              </a:rPr>
              <a:t>Límites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5F6977"/>
                </a:solidFill>
                <a:latin typeface="Arial"/>
                <a:ea typeface="Arial"/>
                <a:cs typeface="Arial"/>
                <a:sym typeface="Arial"/>
              </a:rPr>
              <a:t>No diagnostica, no sanciona, no sustituye al profesional y excluye casos clínicos o complejos no formalizables.</a:t>
            </a:r>
            <a:endParaRPr sz="1100"/>
          </a:p>
        </p:txBody>
      </p:sp>
      <p:sp>
        <p:nvSpPr>
          <p:cNvPr id="343" name="Google Shape;343;p33"/>
          <p:cNvSpPr txBox="1"/>
          <p:nvPr/>
        </p:nvSpPr>
        <p:spPr>
          <a:xfrm>
            <a:off x="685818" y="2846070"/>
            <a:ext cx="781832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54875" spcFirstLastPara="1" rIns="27425" wrap="square" tIns="34275">
            <a:spAutoFit/>
          </a:bodyPr>
          <a:lstStyle/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Trabajo futuro: ampliar entrevistas con más perfiles profesionales y contrastar reglas en más casos reales.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Añadir registro histórico anonimizado para analizar resultados y refinar umbrales.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Mejorar interfaz, informes exportables y panel de auditoría de reglas activadas.</a:t>
            </a:r>
            <a:endParaRPr sz="1100"/>
          </a:p>
          <a:p>
            <a:pPr indent="-127000" lvl="0" marL="2159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22272E"/>
                </a:solidFill>
                <a:latin typeface="Arial"/>
                <a:ea typeface="Arial"/>
                <a:cs typeface="Arial"/>
                <a:sym typeface="Arial"/>
              </a:rPr>
              <a:t>• Evaluar despliegue controlado con profesionales antes de cualquier uso operativo.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